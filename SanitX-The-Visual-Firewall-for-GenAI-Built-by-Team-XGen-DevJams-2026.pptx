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Dela Gothic One"/>
      <p:regular r:id="rId201314"/>
    </p:embeddedFont>
    <p:embeddedFont>
      <p:font typeface="DM Sans"/>
      <p:regular r:id="rId201315"/>
    </p:embeddedFont>
    <p:embeddedFont>
      <p:font typeface="DM Sans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3.png"/><Relationship Id="rId6" Type="http://schemas.openxmlformats.org/officeDocument/2006/relationships/image" Target="../media/image-3-4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2-7.png"/><Relationship Id="rId6" Type="http://schemas.openxmlformats.org/officeDocument/2006/relationships/image" Target="../media/image-2-8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2-5.png"/><Relationship Id="rId8" Type="http://schemas.openxmlformats.org/officeDocument/2006/relationships/image" Target="../media/image-2-6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2" Type="http://schemas.openxmlformats.org/officeDocument/2006/relationships/hyperlink" Target="https://github.com/SamanvaySaxena/SanitX" TargetMode="External"/><Relationship Id="rId1" Type="http://schemas.openxmlformats.org/officeDocument/2006/relationships/image" Target="../media/image-14-1.png"/><Relationship Id="rId2" Type="http://schemas.openxmlformats.org/officeDocument/2006/relationships/image" Target="../media/image-14-2.jpe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3.png"/><Relationship Id="rId6" Type="http://schemas.openxmlformats.org/officeDocument/2006/relationships/image" Target="../media/image-14-4.svg"/><Relationship Id="rId7" Type="http://schemas.openxmlformats.org/officeDocument/2006/relationships/image" Target="../media/image-14-3.png"/><Relationship Id="rId8" Type="http://schemas.openxmlformats.org/officeDocument/2006/relationships/image" Target="../media/image-14-4.svg"/><Relationship Id="rId9" Type="http://schemas.openxmlformats.org/officeDocument/2006/relationships/image" Target="../media/image-14-3.png"/><Relationship Id="rId10" Type="http://schemas.openxmlformats.org/officeDocument/2006/relationships/image" Target="../media/image-14-4.svg"/><Relationship Id="rId11" Type="http://schemas.openxmlformats.org/officeDocument/2006/relationships/image" Target="../media/image-14-11.pn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25683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9830" y="90190"/>
            <a:ext cx="3692036" cy="2076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1908" y="3963491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SanitX: The Visual Firewall for GenAI</a:t>
            </a:r>
            <a:endParaRPr lang="en-US" sz="37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00D9FF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Built by Team XGen · DevJams 2026</a:t>
            </a:r>
            <a:endParaRPr lang="en-US" sz="3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10857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Attack Surface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063552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GenAI introduces novel vulnerabilities that traditional security measures often miss. Understanding these new attack vectors is crucial for robust defense.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2844502"/>
            <a:ext cx="451335" cy="451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861" y="2844502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Invisible Text Injection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08861" y="3249613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Hidden text layers trick AI into altering decisions (healthcare diagnoses, financial transfers, contract terms).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2844502"/>
            <a:ext cx="451335" cy="451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85609" y="2844502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Semantic Manipulation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885609" y="3249613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Adversarial commands embedded in documents override AI instructions (procurement bids, resume screening).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4477445"/>
            <a:ext cx="451335" cy="451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08861" y="4477445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Geometric Exploitation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08861" y="4882555"/>
            <a:ext cx="46741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Shadow objects, microscopic fonts, and background-color text bypass human review but fool AI systems.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4477445"/>
            <a:ext cx="451335" cy="4513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85609" y="4477445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Format Abuse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885609" y="4882555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Unrendered PDF objects and layered content create discrepancies between what humans see and what AI reads.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794470"/>
            <a:ext cx="6153095" cy="326886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231874" y="1240929"/>
            <a:ext cx="1121045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0119" y="1305818"/>
            <a:ext cx="144360" cy="1443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56609" y="1295003"/>
            <a:ext cx="129765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7231874" y="1587302"/>
            <a:ext cx="4334163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SanitX: The Visual Firewall for GenAI</a:t>
            </a:r>
            <a:endParaRPr lang="en-US" sz="3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31874" y="3572173"/>
            <a:ext cx="2076795" cy="204479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39345" y="3778052"/>
            <a:ext cx="156345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Detect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539345" y="4255393"/>
            <a:ext cx="15634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Scans documents to expose hidden prompt injections.</a:t>
            </a:r>
            <a:endParaRPr lang="en-US" sz="14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89143" y="3572173"/>
            <a:ext cx="2076894" cy="20447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96614" y="3778052"/>
            <a:ext cx="156354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Neutralize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796614" y="4255393"/>
            <a:ext cx="1563549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Physically highlights threats and strips active content.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2293541"/>
            <a:ext cx="10927878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AI reads the text layer. Humans read the page.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3842445"/>
            <a:ext cx="10927878" cy="721916"/>
          </a:xfrm>
          <a:prstGeom prst="roundRect">
            <a:avLst>
              <a:gd name="adj" fmla="val 10504"/>
            </a:avLst>
          </a:prstGeom>
          <a:solidFill>
            <a:srgbClr val="740B0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383" y="4100513"/>
            <a:ext cx="225618" cy="18047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18475" y="4067969"/>
            <a:ext cx="1077042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This gap is a critical enterprise vulnerability.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1908" y="962422"/>
            <a:ext cx="1456693" cy="274241"/>
          </a:xfrm>
          <a:prstGeom prst="roundRect">
            <a:avLst>
              <a:gd name="adj" fmla="val 22121"/>
            </a:avLst>
          </a:prstGeom>
          <a:noFill/>
          <a:ln w="6350">
            <a:solidFill>
              <a:srgbClr val="C91313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153" y="1027311"/>
            <a:ext cx="144360" cy="1443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643" y="1016496"/>
            <a:ext cx="163329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1908" y="1308795"/>
            <a:ext cx="4106760" cy="1781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Under the Hood: Visual Heuristics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31908" y="3293666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2480" y="3318619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18574" y="3355677"/>
            <a:ext cx="35200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Structural Scrubbing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218574" y="3833019"/>
            <a:ext cx="352009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highlight>
                  <a:srgbClr val="17171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PyMuPDF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Euclidean Color Distance mapping to detect camouflaged text.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1908" y="4778276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2480" y="4803229"/>
            <a:ext cx="28504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18574" y="4840288"/>
            <a:ext cx="352009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Generative AI Synthesis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1218574" y="5317629"/>
            <a:ext cx="352009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Contextual reasoning layer flags semantic anomalies invisible to parsers.</a:t>
            </a:r>
            <a:endParaRPr lang="en-US" sz="14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5538" y="2200672"/>
            <a:ext cx="6380499" cy="2456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10093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Enterprise Viability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2055912"/>
            <a:ext cx="5373652" cy="1067693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8733" y="2242741"/>
            <a:ext cx="500000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B2B API Middleware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18733" y="2647851"/>
            <a:ext cx="500000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Drop-in layer for RAG Pipelines — zero workflow disruption.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86035" y="2055912"/>
            <a:ext cx="5373752" cy="1067693"/>
          </a:xfrm>
          <a:prstGeom prst="roundRect">
            <a:avLst>
              <a:gd name="adj" fmla="val 710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72859" y="2242741"/>
            <a:ext cx="5000103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Tiered Pricing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2859" y="2647851"/>
            <a:ext cx="500010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Micro-transaction model based on document volume.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3704828"/>
            <a:ext cx="6948909" cy="1674019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687" y="3529806"/>
            <a:ext cx="3538350" cy="20240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389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Enterprise Use Cases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1488877"/>
            <a:ext cx="451335" cy="451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908" y="216584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Healthcare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1908" y="2570956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(Patient Records)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740" y="1488877"/>
            <a:ext cx="451335" cy="4513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9740" y="216584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Finance &amp; Logistics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49740" y="2570956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(Invoices)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7572" y="1488877"/>
            <a:ext cx="451335" cy="451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7572" y="216584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Legal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7572" y="2570956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(Contracts &amp; NDAs)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908" y="3220938"/>
            <a:ext cx="451335" cy="4513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908" y="389790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Auditing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31908" y="4303018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(Financial Reports)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9740" y="3220938"/>
            <a:ext cx="451335" cy="4513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349740" y="389790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Human Resources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349740" y="4303018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(Resume Screening)</a:t>
            </a:r>
            <a:endParaRPr lang="en-US" sz="14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7572" y="3220938"/>
            <a:ext cx="451335" cy="45134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067572" y="3897908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Procurement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8067572" y="4303018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(Bidding on Projects)</a:t>
            </a:r>
            <a:endParaRPr lang="en-US" sz="140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1908" y="4953000"/>
            <a:ext cx="451335" cy="45134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31908" y="5629970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Insurance</a:t>
            </a:r>
            <a:endParaRPr lang="en-US" sz="1850" dirty="0"/>
          </a:p>
        </p:txBody>
      </p:sp>
      <p:sp>
        <p:nvSpPr>
          <p:cNvPr id="23" name="Text 14"/>
          <p:cNvSpPr/>
          <p:nvPr/>
        </p:nvSpPr>
        <p:spPr>
          <a:xfrm>
            <a:off x="631908" y="6035080"/>
            <a:ext cx="3492214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(Automated Claims)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2278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Ten Vectors: Part 1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477764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SanitX actively identifies and neutralizes these advanced attack vectors that exploit the disparity between how humans and GenAI perceive documents.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2258715"/>
            <a:ext cx="451335" cy="451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861" y="2258715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Invisible Render Mode (3-D)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08861" y="2960688"/>
            <a:ext cx="281526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Exploiting 3D rendering capabilities to hide content that the AI processes but humans don't see.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740" y="2258715"/>
            <a:ext cx="451335" cy="451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6693" y="2258715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Zero Opacity via Z-distance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26693" y="2960688"/>
            <a:ext cx="281526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rendered with zero opacity or positioned far off-page, visible to AI parsers but not human eyes.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7572" y="2258715"/>
            <a:ext cx="451335" cy="451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4525" y="2258715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Zero-width Chars, Bulk Overrides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744525" y="2960688"/>
            <a:ext cx="281526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Injecting characters with zero width or using bulk formatting overrides to conceal malicious instructions.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1908" y="4477445"/>
            <a:ext cx="451335" cy="4513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08861" y="4477445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Shadow Attacks on Signed PDFs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308861" y="5179417"/>
            <a:ext cx="281526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Manipulating signed PDF documents by adding or altering content in ways that bypass visual verification.</a:t>
            </a:r>
            <a:endParaRPr lang="en-US" sz="1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9740" y="4477445"/>
            <a:ext cx="451335" cy="4513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026693" y="4477445"/>
            <a:ext cx="2815262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Invisible Optional Content Groups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5026693" y="5179417"/>
            <a:ext cx="281526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Utilizing PDF's layered structure to embed entire content groups that remain invisible to the human reader.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419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The Ten Vectors: Part 2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1489174"/>
            <a:ext cx="451335" cy="4513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08861" y="1489174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Z-order isolation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08861" y="1894284"/>
            <a:ext cx="46741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Detection of content hidden by being placed behind other elements in the document's rendering order.</a:t>
            </a:r>
            <a:endParaRPr lang="en-US" sz="14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1489174"/>
            <a:ext cx="451335" cy="4513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85609" y="1489174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Hidden Optional Content Groups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885609" y="1894284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Identifying maliciously placed content within PDF layers that can be toggled on or off, making it selectively visible.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3122116"/>
            <a:ext cx="451335" cy="45134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08861" y="3122116"/>
            <a:ext cx="4674178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Message, annotation, form channels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08861" y="3824089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Analyzing interactive PDF features like comments, embedded messages, and form fields for hidden malicious inputs or data.</a:t>
            </a:r>
            <a:endParaRPr lang="en-US" sz="14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3122116"/>
            <a:ext cx="451335" cy="45134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885609" y="3122116"/>
            <a:ext cx="4674178" cy="593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Image steganography, in-image text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885609" y="3824089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covert messages or commands embedded directly within image data or as text visually obscured within images.</a:t>
            </a:r>
            <a:endParaRPr lang="en-US" sz="14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908" y="5051921"/>
            <a:ext cx="451335" cy="45134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308861" y="5051921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Shadow attacks on signed PDFs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308861" y="5457031"/>
            <a:ext cx="4674178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Detecting manipulations where changes are made to a PDF after digital signing, but are hidden from view without invalidating the signature.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3833"/>
            <a:ext cx="10927878" cy="475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One Score, Three Components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31908" y="1249660"/>
            <a:ext cx="1153746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SanitX provides a comprehensive scoring system to quantify document risk, consolidating multiple factors into a single, actionable score.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31908" y="1728887"/>
            <a:ext cx="10927878" cy="25400"/>
          </a:xfrm>
          <a:prstGeom prst="roundRect">
            <a:avLst>
              <a:gd name="adj" fmla="val 49999"/>
            </a:avLst>
          </a:prstGeom>
          <a:solidFill>
            <a:srgbClr val="FFE5E5">
              <a:alpha val="5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097" y="2002433"/>
            <a:ext cx="6367402" cy="43517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85615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Run It.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1811139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SanitX scanner processes a malicious PDF sample, showcasing its robust 6-phase execution pipeline.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303165"/>
            <a:ext cx="3642626" cy="7221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383" y="3205758"/>
            <a:ext cx="32816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1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12383" y="3610868"/>
            <a:ext cx="3281677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b="1" dirty="0">
                <a:solidFill>
                  <a:srgbClr val="00D9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Heuristic Injection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4534" y="2303165"/>
            <a:ext cx="3642626" cy="72211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5009" y="3205758"/>
            <a:ext cx="32816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2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455009" y="3610868"/>
            <a:ext cx="3281677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b="1" dirty="0">
                <a:solidFill>
                  <a:srgbClr val="00D9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Structural Scan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161" y="2303165"/>
            <a:ext cx="3642626" cy="72211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97635" y="3205758"/>
            <a:ext cx="32816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3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97635" y="3610868"/>
            <a:ext cx="3281677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b="1" dirty="0">
                <a:solidFill>
                  <a:srgbClr val="00D9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Discrepancy Data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08" y="4152503"/>
            <a:ext cx="3642626" cy="72211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12383" y="5055096"/>
            <a:ext cx="32816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4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812383" y="5460206"/>
            <a:ext cx="3281677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b="1" dirty="0">
                <a:solidFill>
                  <a:srgbClr val="00D9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Semantic Scan</a:t>
            </a:r>
            <a:endParaRPr lang="en-US" sz="17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534" y="4152503"/>
            <a:ext cx="3642626" cy="72211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455009" y="5055096"/>
            <a:ext cx="32816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5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4455009" y="5460206"/>
            <a:ext cx="3281677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b="1" dirty="0">
                <a:solidFill>
                  <a:srgbClr val="00D9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Risk Scoring</a:t>
            </a:r>
            <a:endParaRPr lang="en-US" sz="17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161" y="4152503"/>
            <a:ext cx="3642626" cy="722114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97635" y="5055096"/>
            <a:ext cx="328167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Phase 6</a:t>
            </a:r>
            <a:endParaRPr lang="en-US" sz="1850" dirty="0"/>
          </a:p>
        </p:txBody>
      </p:sp>
      <p:sp>
        <p:nvSpPr>
          <p:cNvPr id="21" name="Text 13"/>
          <p:cNvSpPr/>
          <p:nvPr/>
        </p:nvSpPr>
        <p:spPr>
          <a:xfrm>
            <a:off x="8097635" y="5460206"/>
            <a:ext cx="3281677" cy="361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750" b="1" dirty="0">
                <a:solidFill>
                  <a:srgbClr val="00D9FF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Response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3436"/>
            <a:ext cx="10927878" cy="356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Execution Results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31908" y="1220788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detailed report displays findings with severity ratings including Critical, High, Medium, and Low threats.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2455" y="1712813"/>
            <a:ext cx="7926785" cy="41497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31908" y="6065639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With a total execution time of </a:t>
            </a:r>
            <a:pPr algn="l" indent="0" marL="0">
              <a:lnSpc>
                <a:spcPct val="133000"/>
              </a:lnSpc>
              <a:buNone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7311 ms</a:t>
            </a:r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SanitX provides a complete audit trail and detailed threat detection.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83088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Deployment Profile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785864"/>
            <a:ext cx="11537463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SanitX adapts its scoring algorithms based on deployment context to prioritize relevant threats.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1908" y="3277890"/>
            <a:ext cx="451335" cy="451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861" y="3277890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Standard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08861" y="3683000"/>
            <a:ext cx="467417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 document processing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656" y="3277890"/>
            <a:ext cx="451335" cy="451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85609" y="3277890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Hiring Pipeline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885609" y="3683000"/>
            <a:ext cx="467417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resume fraud, identity verification</a:t>
            </a:r>
            <a:endParaRPr lang="en-US" sz="1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1908" y="4332982"/>
            <a:ext cx="451335" cy="451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08861" y="4332982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Hospital Ingestion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08861" y="4738092"/>
            <a:ext cx="467417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Emphasis on medical record integrity, compliance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08656" y="4332982"/>
            <a:ext cx="451335" cy="4513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885609" y="4332982"/>
            <a:ext cx="46741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RAG Injection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885609" y="4738092"/>
            <a:ext cx="4674178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Prioritizing prompt injection, data poisoning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0423" y="1385391"/>
            <a:ext cx="1399148" cy="1399183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558" y="2987675"/>
            <a:ext cx="3610877" cy="2033389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095054" y="1304826"/>
            <a:ext cx="2939183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5" name="Text 1"/>
          <p:cNvSpPr/>
          <p:nvPr/>
        </p:nvSpPr>
        <p:spPr>
          <a:xfrm>
            <a:off x="6203299" y="1358900"/>
            <a:ext cx="333227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XGEN · VIT VELLORE · DEVJAMS '26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095054" y="1651198"/>
            <a:ext cx="5470983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Team XGen &amp; The Roadmap</a:t>
            </a:r>
            <a:endParaRPr lang="en-US" sz="2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054" y="2804418"/>
            <a:ext cx="2645205" cy="7086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02525" y="3010297"/>
            <a:ext cx="21318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Suyash</a:t>
            </a:r>
            <a:endParaRPr lang="en-US" sz="18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20733" y="2804418"/>
            <a:ext cx="2645304" cy="7086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228204" y="3010297"/>
            <a:ext cx="213195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Ved</a:t>
            </a:r>
            <a:endParaRPr lang="en-US" sz="18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5054" y="3693517"/>
            <a:ext cx="2645205" cy="7086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02525" y="3899396"/>
            <a:ext cx="21318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Kabir</a:t>
            </a:r>
            <a:endParaRPr lang="en-US" sz="18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20733" y="3693517"/>
            <a:ext cx="2645304" cy="70862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228204" y="3899396"/>
            <a:ext cx="213195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Samanway</a:t>
            </a:r>
            <a:endParaRPr lang="en-US" sz="1850" dirty="0"/>
          </a:p>
        </p:txBody>
      </p:sp>
      <p:pic>
        <p:nvPicPr>
          <p:cNvPr id="15" name="Image 6" descr="preencoded.png">
            <a:hlinkClick r:id="rId12" tooltip=""/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1042" y="4605238"/>
            <a:ext cx="2378908" cy="4964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2026-09-01T07:01:59Z</dcterms:created>
  <dcterms:modified xsi:type="dcterms:W3CDTF">2026-09-01T07:01:59Z</dcterms:modified>
</cp:coreProperties>
</file>